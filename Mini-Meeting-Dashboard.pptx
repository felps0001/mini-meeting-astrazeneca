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0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0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Mini-Meeting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108960"/>
            <a:ext cx="8531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090CC"/>
                </a:solidFill>
              </a:rPr>
              <a:t>Sistema de gestão de eventos com check-in digital, QR Code e assinatura eletrônica</a:t>
            </a:r>
          </a:p>
        </p:txBody>
      </p:sp>
      <p:sp>
        <p:nvSpPr>
          <p:cNvPr id="8" name="Oval 7"/>
          <p:cNvSpPr/>
          <p:nvPr/>
        </p:nvSpPr>
        <p:spPr>
          <a:xfrm>
            <a:off x="4270248" y="4023360"/>
            <a:ext cx="3657600" cy="457200"/>
          </a:xfrm>
          <a:prstGeom prst="ellipse">
            <a:avLst/>
          </a:prstGeom>
          <a:solidFill>
            <a:srgbClr val="330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B090CC"/>
                </a:solidFill>
              </a:rPr>
              <a:t>AstraZeneca  ·  2025/2026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0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Visão Geral do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90CC"/>
                </a:solidFill>
              </a:rPr>
              <a:t>O que é e para que serve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2560320" cy="2560320"/>
          </a:xfrm>
          <a:prstGeom prst="rect">
            <a:avLst/>
          </a:prstGeom>
          <a:solidFill>
            <a:srgbClr val="220A3E"/>
          </a:solidFill>
          <a:ln w="12700">
            <a:solidFill>
              <a:srgbClr val="E91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527048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91E8C"/>
                </a:solidFill>
              </a:rPr>
              <a:t>📋 Gestão de Meetings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920240"/>
            <a:ext cx="22311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Criação e edição de eventos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212848"/>
            <a:ext cx="22311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Controle de status (ativo/encerrado)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505456"/>
            <a:ext cx="22311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Visão admin × usuário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417320"/>
            <a:ext cx="2560320" cy="2560320"/>
          </a:xfrm>
          <a:prstGeom prst="rect">
            <a:avLst/>
          </a:prstGeom>
          <a:solidFill>
            <a:srgbClr val="220A3E"/>
          </a:solidFill>
          <a:ln w="12700">
            <a:solidFill>
              <a:srgbClr val="E91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6432" y="1527048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91E8C"/>
                </a:solidFill>
              </a:rPr>
              <a:t>👥 Controle de Participantes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1920240"/>
            <a:ext cx="22311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Inscrição via link público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2212848"/>
            <a:ext cx="22311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Importação em lote por 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2505456"/>
            <a:ext cx="22311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Assinatura digital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417320"/>
            <a:ext cx="2560320" cy="2560320"/>
          </a:xfrm>
          <a:prstGeom prst="rect">
            <a:avLst/>
          </a:prstGeom>
          <a:solidFill>
            <a:srgbClr val="220A3E"/>
          </a:solidFill>
          <a:ln w="12700">
            <a:solidFill>
              <a:srgbClr val="E91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527048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91E8C"/>
                </a:solidFill>
              </a:rPr>
              <a:t>✅ Check-in Digital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1920240"/>
            <a:ext cx="22311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QR Code individual por participante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212848"/>
            <a:ext cx="22311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Scanner via câmera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505456"/>
            <a:ext cx="22311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Check-in manual na busca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417320"/>
            <a:ext cx="2560320" cy="2560320"/>
          </a:xfrm>
          <a:prstGeom prst="rect">
            <a:avLst/>
          </a:prstGeom>
          <a:solidFill>
            <a:srgbClr val="220A3E"/>
          </a:solidFill>
          <a:ln w="12700">
            <a:solidFill>
              <a:srgbClr val="E91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08592" y="1527048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91E8C"/>
                </a:solidFill>
              </a:rPr>
              <a:t>🔐 Autenticação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8592" y="1920240"/>
            <a:ext cx="22311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Login com JWT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2" y="2212848"/>
            <a:ext cx="22311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Perfis: Admin e Usuário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2" y="2505456"/>
            <a:ext cx="22311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Convite por e-mail (48h)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0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Stack Tecnológico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657600" cy="5120640"/>
          </a:xfrm>
          <a:prstGeom prst="rect">
            <a:avLst/>
          </a:prstGeom>
          <a:solidFill>
            <a:srgbClr val="1E0738"/>
          </a:solidFill>
          <a:ln w="25400">
            <a:solidFill>
              <a:srgbClr val="E91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" y="1051560"/>
            <a:ext cx="1371600" cy="347472"/>
          </a:xfrm>
          <a:prstGeom prst="ellipse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30826"/>
                </a:solidFill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React 19 + Vite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1965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React Router v7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219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Axios + JWT interceptors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2432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react-signature-canvas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2666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qrcode.react  ·  html5-qrcode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188720"/>
            <a:ext cx="3657600" cy="5120640"/>
          </a:xfrm>
          <a:prstGeom prst="rect">
            <a:avLst/>
          </a:prstGeom>
          <a:solidFill>
            <a:srgbClr val="1E0738"/>
          </a:solidFill>
          <a:ln w="254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4840" y="1051560"/>
            <a:ext cx="1371600" cy="347472"/>
          </a:xfrm>
          <a:prstGeom prst="ellipse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30826"/>
                </a:solidFill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4173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Node.js + Express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181965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MongoDB Atlas + Mongoose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2219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JWT (jsonwebtoken) + bcryptjs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62432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Nodemailer (SMTP)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02666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uuid  ·  dotenv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188720"/>
            <a:ext cx="3657600" cy="5120640"/>
          </a:xfrm>
          <a:prstGeom prst="rect">
            <a:avLst/>
          </a:prstGeom>
          <a:solidFill>
            <a:srgbClr val="1E0738"/>
          </a:solidFill>
          <a:ln w="2540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66760" y="1051560"/>
            <a:ext cx="1371600" cy="347472"/>
          </a:xfrm>
          <a:prstGeom prst="ellipse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30826"/>
                </a:solidFill>
              </a:rPr>
              <a:t>INFRA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4173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Frontend → Cloudflare Pages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181965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Backend → Render.com (auto-deploy)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2219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DB → MongoDB Atlas (cloud)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62432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CI/CD → push no branch main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02666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Domínio → azminimeeting.grfapps.com.br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0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Arquitetura da Aplicação</a:t>
            </a:r>
          </a:p>
        </p:txBody>
      </p:sp>
      <p:sp>
        <p:nvSpPr>
          <p:cNvPr id="5" name="Oval 4"/>
          <p:cNvSpPr/>
          <p:nvPr/>
        </p:nvSpPr>
        <p:spPr>
          <a:xfrm>
            <a:off x="274320" y="2743200"/>
            <a:ext cx="2194560" cy="1097280"/>
          </a:xfrm>
          <a:prstGeom prst="ellipse">
            <a:avLst/>
          </a:prstGeom>
          <a:solidFill>
            <a:srgbClr val="220840"/>
          </a:solidFill>
          <a:ln w="25400">
            <a:solidFill>
              <a:srgbClr val="E91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🌐 Browser
(Cloudflare Pages)</a:t>
            </a:r>
          </a:p>
        </p:txBody>
      </p:sp>
      <p:sp>
        <p:nvSpPr>
          <p:cNvPr id="6" name="Oval 5"/>
          <p:cNvSpPr/>
          <p:nvPr/>
        </p:nvSpPr>
        <p:spPr>
          <a:xfrm>
            <a:off x="3108960" y="1371600"/>
            <a:ext cx="2377440" cy="1097280"/>
          </a:xfrm>
          <a:prstGeom prst="ellipse">
            <a:avLst/>
          </a:prstGeom>
          <a:solidFill>
            <a:srgbClr val="220840"/>
          </a:solidFill>
          <a:ln w="25400">
            <a:solidFill>
              <a:srgbClr val="E91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⚛️ React App
Cloudflare Pages</a:t>
            </a:r>
          </a:p>
        </p:txBody>
      </p:sp>
      <p:sp>
        <p:nvSpPr>
          <p:cNvPr id="7" name="Oval 6"/>
          <p:cNvSpPr/>
          <p:nvPr/>
        </p:nvSpPr>
        <p:spPr>
          <a:xfrm>
            <a:off x="3108960" y="4114800"/>
            <a:ext cx="2377440" cy="1097280"/>
          </a:xfrm>
          <a:prstGeom prst="ellipse">
            <a:avLst/>
          </a:prstGeom>
          <a:solidFill>
            <a:srgbClr val="220840"/>
          </a:solidFill>
          <a:ln w="25400">
            <a:solidFill>
              <a:srgbClr val="B09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📱 Mobile
(link público)</a:t>
            </a:r>
          </a:p>
        </p:txBody>
      </p:sp>
      <p:sp>
        <p:nvSpPr>
          <p:cNvPr id="8" name="Oval 7"/>
          <p:cNvSpPr/>
          <p:nvPr/>
        </p:nvSpPr>
        <p:spPr>
          <a:xfrm>
            <a:off x="6583680" y="2743200"/>
            <a:ext cx="2377440" cy="1097280"/>
          </a:xfrm>
          <a:prstGeom prst="ellipse">
            <a:avLst/>
          </a:prstGeom>
          <a:solidFill>
            <a:srgbClr val="220840"/>
          </a:solidFill>
          <a:ln w="254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🖥️ Express API
Render.com</a:t>
            </a:r>
          </a:p>
        </p:txBody>
      </p:sp>
      <p:sp>
        <p:nvSpPr>
          <p:cNvPr id="9" name="Oval 8"/>
          <p:cNvSpPr/>
          <p:nvPr/>
        </p:nvSpPr>
        <p:spPr>
          <a:xfrm>
            <a:off x="9509760" y="1371600"/>
            <a:ext cx="2194560" cy="914400"/>
          </a:xfrm>
          <a:prstGeom prst="ellipse">
            <a:avLst/>
          </a:prstGeom>
          <a:solidFill>
            <a:srgbClr val="220840"/>
          </a:solidFill>
          <a:ln w="2540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🍃 MongoDB
Atlas</a:t>
            </a:r>
          </a:p>
        </p:txBody>
      </p:sp>
      <p:sp>
        <p:nvSpPr>
          <p:cNvPr id="10" name="Oval 9"/>
          <p:cNvSpPr/>
          <p:nvPr/>
        </p:nvSpPr>
        <p:spPr>
          <a:xfrm>
            <a:off x="9509760" y="3657600"/>
            <a:ext cx="2194560" cy="914400"/>
          </a:xfrm>
          <a:prstGeom prst="ellipse">
            <a:avLst/>
          </a:prstGeom>
          <a:solidFill>
            <a:srgbClr val="220840"/>
          </a:solidFill>
          <a:ln w="254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📧 SMTP
Nodemailer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2468880" y="1920240"/>
            <a:ext cx="640080" cy="1371600"/>
          </a:xfrm>
          <a:prstGeom prst="line">
            <a:avLst/>
          </a:prstGeom>
          <a:ln w="19050">
            <a:solidFill>
              <a:srgbClr val="B090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468880" y="3291840"/>
            <a:ext cx="640080" cy="1371600"/>
          </a:xfrm>
          <a:prstGeom prst="line">
            <a:avLst/>
          </a:prstGeom>
          <a:ln w="19050">
            <a:solidFill>
              <a:srgbClr val="B090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486400" y="1920240"/>
            <a:ext cx="1097280" cy="1371600"/>
          </a:xfrm>
          <a:prstGeom prst="line">
            <a:avLst/>
          </a:prstGeom>
          <a:ln w="19050">
            <a:solidFill>
              <a:srgbClr val="B090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486400" y="3291840"/>
            <a:ext cx="1097280" cy="1371600"/>
          </a:xfrm>
          <a:prstGeom prst="line">
            <a:avLst/>
          </a:prstGeom>
          <a:ln w="19050">
            <a:solidFill>
              <a:srgbClr val="B090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961120" y="1828800"/>
            <a:ext cx="548640" cy="1463040"/>
          </a:xfrm>
          <a:prstGeom prst="line">
            <a:avLst/>
          </a:prstGeom>
          <a:ln w="19050">
            <a:solidFill>
              <a:srgbClr val="B090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961120" y="3291840"/>
            <a:ext cx="548640" cy="822960"/>
          </a:xfrm>
          <a:prstGeom prst="line">
            <a:avLst/>
          </a:prstGeom>
          <a:ln w="19050">
            <a:solidFill>
              <a:srgbClr val="B090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303520" y="23774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90CC"/>
                </a:solidFill>
              </a:rPr>
              <a:t>HTTPS / REST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0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Perfis de Acesso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303520" cy="5120640"/>
          </a:xfrm>
          <a:prstGeom prst="rect">
            <a:avLst/>
          </a:prstGeom>
          <a:solidFill>
            <a:srgbClr val="1E0738"/>
          </a:solidFill>
          <a:ln w="25400">
            <a:solidFill>
              <a:srgbClr val="E91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91E8C"/>
                </a:solidFill>
              </a:rPr>
              <a:t>🔑  ADMIN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Vê todos os meetings de todos os usuários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7568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Edita e exclui qualquer meeting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5973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Gerencia usuários (ativar/desativar/remover)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4378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Envia convites por e-mail para novos usuários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2783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Acessa o scanner de QR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1188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Importa participantes via CSV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097280"/>
            <a:ext cx="5303520" cy="5120640"/>
          </a:xfrm>
          <a:prstGeom prst="rect">
            <a:avLst/>
          </a:prstGeom>
          <a:solidFill>
            <a:srgbClr val="1E0738"/>
          </a:solidFill>
          <a:ln w="254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143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9C27B0"/>
                </a:solidFill>
              </a:rPr>
              <a:t>👤  USUÁRIO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69164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Acessa apenas seus próprios meetings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07568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Pode ter 1 meeting ativo por vez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45973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Cria link de convite para participantes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84378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Importa participantes via 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22783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Acessa o scanner de QR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61188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Visualiza lista e status de check-ins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0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Fluxo do Participante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1188720"/>
            <a:ext cx="1005840" cy="1005840"/>
          </a:xfrm>
          <a:prstGeom prst="ellipse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130826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3317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E5A0"/>
                </a:solidFill>
              </a:rPr>
              <a:t>Admin cria
o Meeting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0175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90CC"/>
                </a:solidFill>
              </a:rPr>
              <a:t>Define título, local,
data e horário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68880" y="1691640"/>
            <a:ext cx="137160" cy="0"/>
          </a:xfrm>
          <a:prstGeom prst="line">
            <a:avLst/>
          </a:prstGeom>
          <a:ln w="25400">
            <a:solidFill>
              <a:srgbClr val="B090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200399" y="1188720"/>
            <a:ext cx="1005840" cy="1005840"/>
          </a:xfrm>
          <a:prstGeom prst="ellipse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130826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39" y="23317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91E8C"/>
                </a:solidFill>
              </a:rPr>
              <a:t>Admin importa
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39" y="30175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90CC"/>
                </a:solidFill>
              </a:rPr>
              <a:t>Lista de participantes
com nome, email, CRM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00599" y="1691640"/>
            <a:ext cx="137160" cy="0"/>
          </a:xfrm>
          <a:prstGeom prst="line">
            <a:avLst/>
          </a:prstGeom>
          <a:ln w="25400">
            <a:solidFill>
              <a:srgbClr val="B090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532119" y="1188720"/>
            <a:ext cx="1005840" cy="1005840"/>
          </a:xfrm>
          <a:prstGeom prst="ellipse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130826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59" y="23317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C27B0"/>
                </a:solidFill>
              </a:rPr>
              <a:t>Participante
recebe link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30175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90CC"/>
                </a:solidFill>
              </a:rPr>
              <a:t>Link do QR Code
compartilhado pelo admin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32319" y="1691640"/>
            <a:ext cx="137160" cy="0"/>
          </a:xfrm>
          <a:prstGeom prst="line">
            <a:avLst/>
          </a:prstGeom>
          <a:ln w="25400">
            <a:solidFill>
              <a:srgbClr val="B090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863839" y="1188720"/>
            <a:ext cx="1005840" cy="100584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130826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79" y="23317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B300"/>
                </a:solidFill>
              </a:rPr>
              <a:t>Busca seu
QR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79" y="30175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90CC"/>
                </a:solidFill>
              </a:rPr>
              <a:t>Digita nome ou e-mail
na página de busca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464039" y="1691640"/>
            <a:ext cx="137160" cy="0"/>
          </a:xfrm>
          <a:prstGeom prst="line">
            <a:avLst/>
          </a:prstGeom>
          <a:ln w="25400">
            <a:solidFill>
              <a:srgbClr val="B090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0195560" y="1188720"/>
            <a:ext cx="1005840" cy="1005840"/>
          </a:xfrm>
          <a:prstGeom prst="ellipse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130826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3317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E5A0"/>
                </a:solidFill>
              </a:rPr>
              <a:t>Apresenta na
entrada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30175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90CC"/>
                </a:solidFill>
              </a:rPr>
              <a:t>QR Code escaneado
ou check-in manual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0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Importação CSV &amp; QR Codes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B300"/>
                </a:solidFill>
              </a:rPr>
              <a:t>📂  Importação via 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Botão "Importar CSV" na tela do meeting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4767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Suporta vírgula ( , ) e ponto-e-vírgula ( ;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9514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Colunas: nome, email, crm, uf, telefone, cidade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42616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Duplicatas são ignoradas automaticamente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9008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Até 500 participantes por importação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Botão "Modelo" baixa CSV de exemplo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572000"/>
            <a:ext cx="5303520" cy="1463040"/>
          </a:xfrm>
          <a:prstGeom prst="rect">
            <a:avLst/>
          </a:prstGeom>
          <a:solidFill>
            <a:srgbClr val="0D0220"/>
          </a:solidFill>
          <a:ln w="127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6344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E5A0"/>
                </a:solidFill>
              </a:rPr>
              <a:t>nome,email,crm,uf,telefone,cidade
João Silva,joao@email.com,123456,SP,(11) 99999-9999,São Paulo
Maria Costa,maria@email.com,654321,RJ,(21) 98888-8888,Rio de Janeiro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0515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91E8C"/>
                </a:solidFill>
              </a:rPr>
              <a:t>📱  Página de QR Codes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60020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Link público por meeting (sem login)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94767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Participante busca por nome ou e-mail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29514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QR Code individual gerado na tela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642616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Botão de check-in manual disponível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99008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Status de check-in atualizado em tempo real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0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Scanner de Check-in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90CC"/>
                </a:solidFill>
              </a:rPr>
              <a:t>Acesso exclusivo: organizador do meeting ou admin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463040"/>
            <a:ext cx="2560320" cy="3657600"/>
          </a:xfrm>
          <a:prstGeom prst="ellipse">
            <a:avLst/>
          </a:prstGeom>
          <a:solidFill>
            <a:srgbClr val="1E0738"/>
          </a:solidFill>
          <a:ln w="2540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E5A0"/>
                </a:solidFill>
              </a:rPr>
              <a:t>Câmera
Traseira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90CC"/>
                </a:solidFill>
              </a:rPr>
              <a:t>Ativa a câmera do
dispositivo para leitura</a:t>
            </a:r>
          </a:p>
        </p:txBody>
      </p:sp>
      <p:sp>
        <p:nvSpPr>
          <p:cNvPr id="10" name="Oval 9"/>
          <p:cNvSpPr/>
          <p:nvPr/>
        </p:nvSpPr>
        <p:spPr>
          <a:xfrm>
            <a:off x="3383280" y="1463040"/>
            <a:ext cx="2560320" cy="3657600"/>
          </a:xfrm>
          <a:prstGeom prst="ellipse">
            <a:avLst/>
          </a:prstGeom>
          <a:solidFill>
            <a:srgbClr val="1E0738"/>
          </a:solidFill>
          <a:ln w="25400">
            <a:solidFill>
              <a:srgbClr val="E91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8288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6517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91E8C"/>
                </a:solidFill>
              </a:rPr>
              <a:t>Contador
Ao Vivo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2918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90CC"/>
                </a:solidFill>
              </a:rPr>
              <a:t>Mostra X / Total
presentes em tempo real</a:t>
            </a:r>
          </a:p>
        </p:txBody>
      </p:sp>
      <p:sp>
        <p:nvSpPr>
          <p:cNvPr id="14" name="Oval 13"/>
          <p:cNvSpPr/>
          <p:nvPr/>
        </p:nvSpPr>
        <p:spPr>
          <a:xfrm>
            <a:off x="6309360" y="1463040"/>
            <a:ext cx="2560320" cy="3657600"/>
          </a:xfrm>
          <a:prstGeom prst="ellipse">
            <a:avLst/>
          </a:prstGeom>
          <a:solidFill>
            <a:srgbClr val="1E0738"/>
          </a:solidFill>
          <a:ln w="254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8288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6517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C27B0"/>
                </a:solidFill>
              </a:rPr>
              <a:t>Feedback
Imediato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2918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90CC"/>
                </a:solidFill>
              </a:rPr>
              <a:t>Verde = confirmado
Roxo = já registrado</a:t>
            </a:r>
          </a:p>
        </p:txBody>
      </p:sp>
      <p:sp>
        <p:nvSpPr>
          <p:cNvPr id="18" name="Oval 17"/>
          <p:cNvSpPr/>
          <p:nvPr/>
        </p:nvSpPr>
        <p:spPr>
          <a:xfrm>
            <a:off x="9235440" y="1463040"/>
            <a:ext cx="2560320" cy="3657600"/>
          </a:xfrm>
          <a:prstGeom prst="ellipse">
            <a:avLst/>
          </a:prstGeom>
          <a:solidFill>
            <a:srgbClr val="1E0738"/>
          </a:solidFill>
          <a:ln w="254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8288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⏱️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6517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B300"/>
                </a:solidFill>
              </a:rPr>
              <a:t>Cooldown
2.5s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2918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90CC"/>
                </a:solidFill>
              </a:rPr>
              <a:t>Evita duplo scan
por engano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90CC"/>
                </a:solidFill>
              </a:rPr>
              <a:t>Rota:  /meetings/:id/scan  (autenticada)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0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Rotas da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90CC"/>
                </a:solidFill>
              </a:rPr>
              <a:t>Método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9601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90CC"/>
                </a:solidFill>
              </a:rPr>
              <a:t>Rota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960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90CC"/>
                </a:solidFill>
              </a:rPr>
              <a:t>Acesso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9304"/>
            <a:ext cx="7772400" cy="310896"/>
          </a:xfrm>
          <a:prstGeom prst="rect">
            <a:avLst/>
          </a:prstGeom>
          <a:solidFill>
            <a:srgbClr val="1A0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2588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1E8C"/>
                </a:solidFill>
              </a:rPr>
              <a:t>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3258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/api/auth/login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1325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90CC"/>
                </a:solidFill>
              </a:rPr>
              <a:t>Público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636776"/>
            <a:ext cx="7772400" cy="310896"/>
          </a:xfrm>
          <a:prstGeom prst="rect">
            <a:avLst/>
          </a:prstGeom>
          <a:solidFill>
            <a:srgbClr val="1A0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6733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1E8C"/>
                </a:solidFill>
              </a:rPr>
              <a:t>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167335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/api/auth/register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16733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90CC"/>
                </a:solidFill>
              </a:rPr>
              <a:t>Público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984248"/>
            <a:ext cx="7772400" cy="310896"/>
          </a:xfrm>
          <a:prstGeom prst="rect">
            <a:avLst/>
          </a:prstGeom>
          <a:solidFill>
            <a:srgbClr val="1A0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02082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A0"/>
                </a:solidFill>
              </a:rPr>
              <a:t>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02082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/api/users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202082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91E8C"/>
                </a:solidFill>
              </a:rPr>
              <a:t>Admin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331720"/>
            <a:ext cx="7772400" cy="310896"/>
          </a:xfrm>
          <a:prstGeom prst="rect">
            <a:avLst/>
          </a:prstGeom>
          <a:solidFill>
            <a:srgbClr val="1A0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368296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1E8C"/>
                </a:solidFill>
              </a:rPr>
              <a:t>POST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236829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/api/users/invite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23682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91E8C"/>
                </a:solidFill>
              </a:rPr>
              <a:t>Admin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679192"/>
            <a:ext cx="7772400" cy="310896"/>
          </a:xfrm>
          <a:prstGeom prst="rect">
            <a:avLst/>
          </a:prstGeom>
          <a:solidFill>
            <a:srgbClr val="1A0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71576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A0"/>
                </a:solidFill>
              </a:rPr>
              <a:t>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271576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/api/meetings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27157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27B0"/>
                </a:solidFill>
              </a:rPr>
              <a:t>Autenticado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026664"/>
            <a:ext cx="7772400" cy="310896"/>
          </a:xfrm>
          <a:prstGeom prst="rect">
            <a:avLst/>
          </a:prstGeom>
          <a:solidFill>
            <a:srgbClr val="1A0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06324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1E8C"/>
                </a:solidFill>
              </a:rPr>
              <a:t>POST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30632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/api/meetings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5000" y="3063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27B0"/>
                </a:solidFill>
              </a:rPr>
              <a:t>Autenticado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374136"/>
            <a:ext cx="7772400" cy="310896"/>
          </a:xfrm>
          <a:prstGeom prst="rect">
            <a:avLst/>
          </a:prstGeom>
          <a:solidFill>
            <a:srgbClr val="1A0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41071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300"/>
                </a:solidFill>
              </a:rPr>
              <a:t>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341071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/api/meetings/:id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0" y="34107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27B0"/>
                </a:solidFill>
              </a:rPr>
              <a:t>Autenticado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721608"/>
            <a:ext cx="7772400" cy="310896"/>
          </a:xfrm>
          <a:prstGeom prst="rect">
            <a:avLst/>
          </a:prstGeom>
          <a:solidFill>
            <a:srgbClr val="1A0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375818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1E8C"/>
                </a:solidFill>
              </a:rPr>
              <a:t>POST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375818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/api/meetings/:id/attendees/bulk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15000" y="37581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27B0"/>
                </a:solidFill>
              </a:rPr>
              <a:t>Autenticado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069080"/>
            <a:ext cx="7772400" cy="310896"/>
          </a:xfrm>
          <a:prstGeom prst="rect">
            <a:avLst/>
          </a:prstGeom>
          <a:solidFill>
            <a:srgbClr val="1A0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4105656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A0"/>
                </a:solidFill>
              </a:rPr>
              <a:t>GET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34440" y="410565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/api/meetings/invite/:token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15000" y="41056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90CC"/>
                </a:solidFill>
              </a:rPr>
              <a:t>Público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4416552"/>
            <a:ext cx="7772400" cy="310896"/>
          </a:xfrm>
          <a:prstGeom prst="rect">
            <a:avLst/>
          </a:prstGeom>
          <a:solidFill>
            <a:srgbClr val="1A0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445312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A0"/>
                </a:solidFill>
              </a:rPr>
              <a:t>GET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34440" y="445312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/api/meetings/invite/:token/lookup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15000" y="44531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90CC"/>
                </a:solidFill>
              </a:rPr>
              <a:t>Público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4764024"/>
            <a:ext cx="7772400" cy="310896"/>
          </a:xfrm>
          <a:prstGeom prst="rect">
            <a:avLst/>
          </a:prstGeom>
          <a:solidFill>
            <a:srgbClr val="1A0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480060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1E8C"/>
                </a:solidFill>
              </a:rPr>
              <a:t>POST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34440" y="48006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/api/meetings/invite/:token/register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15000" y="4800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90CC"/>
                </a:solidFill>
              </a:rPr>
              <a:t>Público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5111496"/>
            <a:ext cx="7772400" cy="310896"/>
          </a:xfrm>
          <a:prstGeom prst="rect">
            <a:avLst/>
          </a:prstGeom>
          <a:solidFill>
            <a:srgbClr val="1A0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514807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1E8C"/>
                </a:solidFill>
              </a:rPr>
              <a:t>POST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34440" y="514807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/api/meetings/checkin/:token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15000" y="51480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A0"/>
                </a:solidFill>
              </a:rPr>
              <a:t>Público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0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Deploy &amp; Infraestrutura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743200" cy="5120640"/>
          </a:xfrm>
          <a:prstGeom prst="rect">
            <a:avLst/>
          </a:prstGeom>
          <a:solidFill>
            <a:srgbClr val="1E0738"/>
          </a:solidFill>
          <a:ln w="25400">
            <a:solidFill>
              <a:srgbClr val="E91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88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783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91E8C"/>
                </a:solidFill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2128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90CC"/>
                </a:solidFill>
              </a:rPr>
              <a:t>Cloudflare Pages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6517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azminimeeting.grfapps.com.br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0175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Auto-deploy no push do branch main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3832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Variáveis: VITE_API_URL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097280"/>
            <a:ext cx="2743200" cy="5120640"/>
          </a:xfrm>
          <a:prstGeom prst="rect">
            <a:avLst/>
          </a:prstGeom>
          <a:solidFill>
            <a:srgbClr val="1E0738"/>
          </a:solidFill>
          <a:ln w="254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188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🖥️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1783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9C27B0"/>
                </a:solidFill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2128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90CC"/>
                </a:solidFill>
              </a:rPr>
              <a:t>Render.com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6517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https://mini-meeting-astrazeneca.onrender.com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0175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Node.js 24 · auto-deploy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3832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Root Dir: backend  ·  Start: node server.js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097280"/>
            <a:ext cx="2743200" cy="5120640"/>
          </a:xfrm>
          <a:prstGeom prst="rect">
            <a:avLst/>
          </a:prstGeom>
          <a:solidFill>
            <a:srgbClr val="1E0738"/>
          </a:solidFill>
          <a:ln w="2540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188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783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E5A0"/>
                </a:solidFill>
              </a:rPr>
              <a:t>Banco de Dados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2128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90CC"/>
                </a:solidFill>
              </a:rPr>
              <a:t>MongoDB Atlas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6517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Cluster gratuito (M0)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0175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Variável: MONGO_URI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3832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Mongoose como ODM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89720" y="1097280"/>
            <a:ext cx="2743200" cy="5120640"/>
          </a:xfrm>
          <a:prstGeom prst="rect">
            <a:avLst/>
          </a:prstGeom>
          <a:solidFill>
            <a:srgbClr val="1E0738"/>
          </a:solidFill>
          <a:ln w="254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1188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1783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B300"/>
                </a:solidFill>
              </a:rPr>
              <a:t>E-mail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2128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90CC"/>
                </a:solidFill>
              </a:rPr>
              <a:t>SMTP (Nodemailer)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26517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Envio de convites para novos usuários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30175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Variáveis: EMAIL_HOST/PORT/USER/PASS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33832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Fallback: link exibido na tela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0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Mini-Meeting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834640"/>
            <a:ext cx="8531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090CC"/>
                </a:solidFill>
              </a:rPr>
              <a:t>Gestão inteligente de eventos corporativos</a:t>
            </a:r>
          </a:p>
        </p:txBody>
      </p:sp>
      <p:sp>
        <p:nvSpPr>
          <p:cNvPr id="7" name="Oval 6"/>
          <p:cNvSpPr/>
          <p:nvPr/>
        </p:nvSpPr>
        <p:spPr>
          <a:xfrm>
            <a:off x="3200400" y="3657600"/>
            <a:ext cx="5788152" cy="502920"/>
          </a:xfrm>
          <a:prstGeom prst="ellipse">
            <a:avLst/>
          </a:prstGeom>
          <a:solidFill>
            <a:srgbClr val="330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E91E8C"/>
                </a:solidFill>
              </a:rPr>
              <a:t>🌐  azminimeeting.grfapps.com.br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